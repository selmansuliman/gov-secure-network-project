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63" r:id="rId2"/>
    <p:sldId id="367" r:id="rId3"/>
    <p:sldId id="372" r:id="rId4"/>
    <p:sldId id="373" r:id="rId5"/>
    <p:sldId id="380" r:id="rId6"/>
    <p:sldId id="374" r:id="rId7"/>
    <p:sldId id="375" r:id="rId8"/>
    <p:sldId id="376" r:id="rId9"/>
    <p:sldId id="386" r:id="rId10"/>
    <p:sldId id="387" r:id="rId11"/>
    <p:sldId id="388" r:id="rId12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7792" autoAdjust="0"/>
  </p:normalViewPr>
  <p:slideViewPr>
    <p:cSldViewPr snapToGrid="0">
      <p:cViewPr varScale="1">
        <p:scale>
          <a:sx n="77" d="100"/>
          <a:sy n="77" d="100"/>
        </p:scale>
        <p:origin x="912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B9B87-6E1B-48D4-ABCD-FF45FA194F11}" type="datetime8">
              <a:rPr lang="ar-SY" smtClean="0"/>
              <a:t>17 تشرين الثاني، 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57898A-B493-4465-A265-69B49843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195339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ar-S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EE1514CF-C63B-4EB4-B5B6-9FE03C380E82}" type="datetime8">
              <a:rPr lang="ar-SY" smtClean="0"/>
              <a:t>17 تشرين الثاني، 25</a:t>
            </a:fld>
            <a:endParaRPr lang="ar-S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pPr lvl="0"/>
            <a:endParaRPr lang="ar-SY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ar-S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427D320-07BB-4D51-AED1-76D4179DAF93}" type="slidenum">
              <a:rPr lang="ar-SY"/>
              <a:pPr>
                <a:defRPr/>
              </a:pPr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5587319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309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-SY" sz="1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مما يزيد من عدد الخدمات المقدمة إلكترونيّاً ويرفع من جودتها</a:t>
            </a: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-SY" sz="1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مما سيُخفف من زمن تقديم الخدمة ويرفع أداء المؤسسات الحكومية</a:t>
            </a: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-SY" sz="1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حيث سيكون هناك جهة واحدة تقوم بإدارة وتشغيل هذه الشبكة</a:t>
            </a:r>
            <a:endParaRPr lang="en-US" sz="12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eaLnBrk="1" hangingPunct="1"/>
            <a:endParaRPr lang="en-US" altLang="en-US" dirty="0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160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3967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799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399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4773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1556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3237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452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400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77800" y="762000"/>
            <a:ext cx="6502400" cy="3657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0" name="Text Box 1027"/>
          <p:cNvSpPr txBox="1"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426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1279525" y="3548063"/>
            <a:ext cx="987583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200" y="454025"/>
            <a:ext cx="258127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19" t="25534" r="18864" b="25636"/>
          <a:stretch>
            <a:fillRect/>
          </a:stretch>
        </p:blipFill>
        <p:spPr bwMode="auto">
          <a:xfrm>
            <a:off x="9055100" y="387350"/>
            <a:ext cx="2100263" cy="1335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646488" y="557213"/>
            <a:ext cx="5368925" cy="1014412"/>
          </a:xfrm>
          <a:prstGeom prst="rect">
            <a:avLst/>
          </a:prstGeom>
          <a:noFill/>
        </p:spPr>
        <p:txBody>
          <a:bodyPr rtlCol="1">
            <a:spAutoFit/>
          </a:bodyPr>
          <a:lstStyle/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SY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المركز الوطني للتدريب والاستشارات</a:t>
            </a:r>
          </a:p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SY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في مجال تكنولوجيا المعلومات والاتصالات</a:t>
            </a:r>
          </a:p>
          <a:p>
            <a:pPr algn="ctr" rtl="1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ar-SY" sz="2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من أجل التنمية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87826"/>
            <a:ext cx="10058400" cy="1470991"/>
          </a:xfrm>
        </p:spPr>
        <p:txBody>
          <a:bodyPr>
            <a:noAutofit/>
          </a:bodyPr>
          <a:lstStyle>
            <a:lvl1pPr algn="r">
              <a:lnSpc>
                <a:spcPct val="85000"/>
              </a:lnSpc>
              <a:defRPr sz="3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657600"/>
            <a:ext cx="10058400" cy="1941021"/>
          </a:xfrm>
        </p:spPr>
        <p:txBody>
          <a:bodyPr lIns="91440" rIns="91440" anchor="ctr">
            <a:normAutofit/>
          </a:bodyPr>
          <a:lstStyle>
            <a:lvl1pPr marL="0" indent="0" algn="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978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226"/>
            <a:ext cx="10058400" cy="449086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097280" y="6413363"/>
            <a:ext cx="10058400" cy="365125"/>
          </a:xfrm>
        </p:spPr>
        <p:txBody>
          <a:bodyPr anchor="ctr">
            <a:noAutofit/>
          </a:bodyPr>
          <a:lstStyle>
            <a:lvl1pPr algn="l" rtl="0">
              <a:defRPr sz="1800">
                <a:solidFill>
                  <a:schemeClr val="bg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101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Ani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226"/>
            <a:ext cx="10058400" cy="449086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097280" y="6413363"/>
            <a:ext cx="10058400" cy="365125"/>
          </a:xfrm>
        </p:spPr>
        <p:txBody>
          <a:bodyPr anchor="ctr">
            <a:noAutofit/>
          </a:bodyPr>
          <a:lstStyle>
            <a:lvl1pPr algn="l" rtl="0">
              <a:defRPr sz="1800">
                <a:solidFill>
                  <a:schemeClr val="bg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7EF04C5B-56C6-43F7-9915-CCFAF6BAD34F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A40B16FC-C4C4-4326-8CAE-EDDB4142A7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415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3" y="169863"/>
            <a:ext cx="1201737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226"/>
            <a:ext cx="10058400" cy="449086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097280" y="6413363"/>
            <a:ext cx="10058400" cy="365125"/>
          </a:xfrm>
        </p:spPr>
        <p:txBody>
          <a:bodyPr anchor="ctr">
            <a:noAutofit/>
          </a:bodyPr>
          <a:lstStyle>
            <a:lvl1pPr algn="l" rtl="0">
              <a:defRPr sz="1800">
                <a:solidFill>
                  <a:schemeClr val="bg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F8ADC6D3-5AFD-4684-A889-7CCDF6906832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7E619192-B20C-46A6-BCF8-83C6E76974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35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ink ab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1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217488"/>
            <a:ext cx="903288" cy="120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226"/>
            <a:ext cx="10058400" cy="449086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1097280" y="6413363"/>
            <a:ext cx="10058400" cy="365125"/>
          </a:xfrm>
        </p:spPr>
        <p:txBody>
          <a:bodyPr anchor="ctr">
            <a:noAutofit/>
          </a:bodyPr>
          <a:lstStyle>
            <a:lvl1pPr algn="l" rtl="0">
              <a:defRPr sz="1800">
                <a:solidFill>
                  <a:schemeClr val="bg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4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7CA275F2-E708-40B9-B246-CE6D0D23D97D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5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6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688741B0-EB75-43FA-A9BA-795960A066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9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6" name="Straight Connector 5"/>
          <p:cNvCxnSpPr/>
          <p:nvPr/>
        </p:nvCxnSpPr>
        <p:spPr>
          <a:xfrm>
            <a:off x="1208088" y="3667125"/>
            <a:ext cx="987583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2846260"/>
          </a:xfrm>
        </p:spPr>
        <p:txBody>
          <a:bodyPr anchor="b" anchorCtr="0"/>
          <a:lstStyle>
            <a:lvl1pPr>
              <a:lnSpc>
                <a:spcPct val="85000"/>
              </a:lnSpc>
              <a:defRPr sz="3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3726523"/>
            <a:ext cx="10058400" cy="18696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EF60606C-ABB4-4C43-B23F-D62A2B9BBD36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995D2151-56D9-46C8-82D1-8EC2870AFD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29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ECEBE25D-6AA1-4879-A657-1A7DA65471C5}" type="datetime1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88DAFDD9-69A0-4ED7-8764-5EFE223D4D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1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99B4DE00-2EB0-429E-BECC-3BAEE22164BC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3900650B-E0AD-4AB8-8C80-E5334CC5E4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49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8EC3CB91-340F-4708-8CD6-97B8A748ED2E}" type="datetime1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37C50B4F-12E1-4807-A593-0D0395054A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28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4845377A-32C9-4AB4-B131-A3EE4610EA7C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C659A518-3366-428D-AB43-2621803531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90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40513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4040188" y="0"/>
            <a:ext cx="635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/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465138" y="6459538"/>
            <a:ext cx="2619375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153BFA70-8CB9-43FD-9690-35E9A4ADA308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538"/>
            <a:ext cx="4648200" cy="365125"/>
          </a:xfrm>
          <a:prstGeom prst="rect">
            <a:avLst/>
          </a:prstGeom>
        </p:spPr>
        <p:txBody>
          <a:bodyPr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dirty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BDE0C5CE-5710-43E7-9750-D10AE4D604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847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0" y="4914900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0617DB5A-33C7-4427-AF3D-3F38703A828F}" type="datetime1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8AB97B82-51E9-4943-99B8-D0FFAEDB5B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371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0D753A56-7055-4154-99D1-3BC9CAD499BC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57E6D65D-2BE5-46C6-A373-1613CD8AAF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625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/>
          <p:cNvSpPr/>
          <p:nvPr/>
        </p:nvSpPr>
        <p:spPr>
          <a:xfrm>
            <a:off x="0" y="6334125"/>
            <a:ext cx="12188825" cy="6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5C920D47-E36D-4E54-B18D-8CBDAFC0AEF7}" type="datetime1">
              <a:rPr lang="en-US" smtClean="0"/>
              <a:t>11/17/2025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DA2F5921-570D-42A0-A82F-2A75FBDF49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435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se Study det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25" y="146050"/>
            <a:ext cx="1327150" cy="1174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653" y="196445"/>
            <a:ext cx="9887217" cy="1072590"/>
          </a:xfrm>
        </p:spPr>
        <p:txBody>
          <a:bodyPr>
            <a:noAutofit/>
          </a:bodyPr>
          <a:lstStyle>
            <a:lvl1pPr>
              <a:defRPr sz="4400" baseline="0"/>
            </a:lvl1pPr>
          </a:lstStyle>
          <a:p>
            <a:r>
              <a:rPr lang="en-US" smtClean="0"/>
              <a:t>Click to edit Master title style</a:t>
            </a:r>
            <a:endParaRPr lang="ar-SY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838199" y="1378226"/>
            <a:ext cx="10512671" cy="47987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ar-S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6691444C-6ACE-4AE3-8C3B-F47941B2EDFA}" type="datetime1">
              <a:rPr lang="en-US" smtClean="0"/>
              <a:t>11/17/2025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D4BF389-242B-4F8B-80F7-A0D67567A74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9920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68440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378226"/>
            <a:ext cx="10058400" cy="449086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6963" y="6459538"/>
            <a:ext cx="24733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E170FC0A-055A-41AD-99CD-DAB11E410B8A}" type="datetime1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01238" y="6459538"/>
            <a:ext cx="1311275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dirty="0">
                <a:latin typeface="+mn-lt"/>
              </a:defRPr>
            </a:lvl1pPr>
          </a:lstStyle>
          <a:p>
            <a:pPr>
              <a:defRPr/>
            </a:pPr>
            <a:fld id="{B87436DC-DDA2-496E-9760-B8E7870C28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54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92863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125"/>
            <a:ext cx="12192000" cy="666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9667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96963" y="1379538"/>
            <a:ext cx="10058400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800" y="1314450"/>
            <a:ext cx="996632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4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  <p:sldLayoutId id="2147483695" r:id="rId12"/>
    <p:sldLayoutId id="2147483696" r:id="rId13"/>
    <p:sldLayoutId id="2147483697" r:id="rId14"/>
    <p:sldLayoutId id="2147483698" r:id="rId15"/>
    <p:sldLayoutId id="2147483700" r:id="rId16"/>
  </p:sldLayoutIdLst>
  <p:timing>
    <p:tnLst>
      <p:par>
        <p:cTn id="1" dur="indefinite" restart="never" nodeType="tmRoot"/>
      </p:par>
    </p:tnLst>
  </p:timing>
  <p:hf hdr="0" ftr="0"/>
  <p:txStyles>
    <p:titleStyle>
      <a:lvl1pPr algn="r" rtl="1" fontAlgn="base">
        <a:lnSpc>
          <a:spcPct val="85000"/>
        </a:lnSpc>
        <a:spcBef>
          <a:spcPct val="0"/>
        </a:spcBef>
        <a:spcAft>
          <a:spcPct val="0"/>
        </a:spcAft>
        <a:defRPr sz="4800" b="1" kern="1200" spc="-50">
          <a:solidFill>
            <a:srgbClr val="404040"/>
          </a:solidFill>
          <a:latin typeface="+mj-lt"/>
          <a:ea typeface="+mj-ea"/>
          <a:cs typeface="+mj-cs"/>
        </a:defRPr>
      </a:lvl1pPr>
      <a:lvl2pPr algn="r" rtl="1" fontAlgn="base">
        <a:lnSpc>
          <a:spcPct val="85000"/>
        </a:lnSpc>
        <a:spcBef>
          <a:spcPct val="0"/>
        </a:spcBef>
        <a:spcAft>
          <a:spcPct val="0"/>
        </a:spcAft>
        <a:defRPr sz="4800" b="1">
          <a:solidFill>
            <a:srgbClr val="404040"/>
          </a:solidFill>
          <a:latin typeface="Calibri Light" panose="020F0302020204030204" pitchFamily="34" charset="0"/>
        </a:defRPr>
      </a:lvl2pPr>
      <a:lvl3pPr algn="r" rtl="1" fontAlgn="base">
        <a:lnSpc>
          <a:spcPct val="85000"/>
        </a:lnSpc>
        <a:spcBef>
          <a:spcPct val="0"/>
        </a:spcBef>
        <a:spcAft>
          <a:spcPct val="0"/>
        </a:spcAft>
        <a:defRPr sz="4800" b="1">
          <a:solidFill>
            <a:srgbClr val="404040"/>
          </a:solidFill>
          <a:latin typeface="Calibri Light" panose="020F0302020204030204" pitchFamily="34" charset="0"/>
        </a:defRPr>
      </a:lvl3pPr>
      <a:lvl4pPr algn="r" rtl="1" fontAlgn="base">
        <a:lnSpc>
          <a:spcPct val="85000"/>
        </a:lnSpc>
        <a:spcBef>
          <a:spcPct val="0"/>
        </a:spcBef>
        <a:spcAft>
          <a:spcPct val="0"/>
        </a:spcAft>
        <a:defRPr sz="4800" b="1">
          <a:solidFill>
            <a:srgbClr val="404040"/>
          </a:solidFill>
          <a:latin typeface="Calibri Light" panose="020F0302020204030204" pitchFamily="34" charset="0"/>
        </a:defRPr>
      </a:lvl4pPr>
      <a:lvl5pPr algn="r" rtl="1" fontAlgn="base">
        <a:lnSpc>
          <a:spcPct val="85000"/>
        </a:lnSpc>
        <a:spcBef>
          <a:spcPct val="0"/>
        </a:spcBef>
        <a:spcAft>
          <a:spcPct val="0"/>
        </a:spcAft>
        <a:defRPr sz="4800" b="1">
          <a:solidFill>
            <a:srgbClr val="404040"/>
          </a:solidFill>
          <a:latin typeface="Calibri Light" panose="020F0302020204030204" pitchFamily="34" charset="0"/>
        </a:defRPr>
      </a:lvl5pPr>
      <a:lvl6pPr marL="457200" algn="r" rtl="1" fontAlgn="base">
        <a:lnSpc>
          <a:spcPct val="85000"/>
        </a:lnSpc>
        <a:spcBef>
          <a:spcPct val="0"/>
        </a:spcBef>
        <a:spcAft>
          <a:spcPct val="0"/>
        </a:spcAft>
        <a:defRPr sz="4800" b="1">
          <a:solidFill>
            <a:srgbClr val="404040"/>
          </a:solidFill>
          <a:latin typeface="Calibri Light" panose="020F0302020204030204" pitchFamily="34" charset="0"/>
        </a:defRPr>
      </a:lvl6pPr>
      <a:lvl7pPr marL="914400" algn="r" rtl="1" fontAlgn="base">
        <a:lnSpc>
          <a:spcPct val="85000"/>
        </a:lnSpc>
        <a:spcBef>
          <a:spcPct val="0"/>
        </a:spcBef>
        <a:spcAft>
          <a:spcPct val="0"/>
        </a:spcAft>
        <a:defRPr sz="4800" b="1">
          <a:solidFill>
            <a:srgbClr val="404040"/>
          </a:solidFill>
          <a:latin typeface="Calibri Light" panose="020F0302020204030204" pitchFamily="34" charset="0"/>
        </a:defRPr>
      </a:lvl7pPr>
      <a:lvl8pPr marL="1371600" algn="r" rtl="1" fontAlgn="base">
        <a:lnSpc>
          <a:spcPct val="85000"/>
        </a:lnSpc>
        <a:spcBef>
          <a:spcPct val="0"/>
        </a:spcBef>
        <a:spcAft>
          <a:spcPct val="0"/>
        </a:spcAft>
        <a:defRPr sz="4800" b="1">
          <a:solidFill>
            <a:srgbClr val="404040"/>
          </a:solidFill>
          <a:latin typeface="Calibri Light" panose="020F0302020204030204" pitchFamily="34" charset="0"/>
        </a:defRPr>
      </a:lvl8pPr>
      <a:lvl9pPr marL="1828800" algn="r" rtl="1" fontAlgn="base">
        <a:lnSpc>
          <a:spcPct val="85000"/>
        </a:lnSpc>
        <a:spcBef>
          <a:spcPct val="0"/>
        </a:spcBef>
        <a:spcAft>
          <a:spcPct val="0"/>
        </a:spcAft>
        <a:defRPr sz="4800" b="1">
          <a:solidFill>
            <a:srgbClr val="404040"/>
          </a:solidFill>
          <a:latin typeface="Calibri Light" panose="020F0302020204030204" pitchFamily="34" charset="0"/>
        </a:defRPr>
      </a:lvl9pPr>
    </p:titleStyle>
    <p:bodyStyle>
      <a:lvl1pPr algn="r" rtl="1" fontAlgn="base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defRPr sz="3200" kern="1200">
          <a:solidFill>
            <a:srgbClr val="404040"/>
          </a:solidFill>
          <a:latin typeface="+mn-lt"/>
          <a:ea typeface="+mn-ea"/>
          <a:cs typeface="+mn-cs"/>
        </a:defRPr>
      </a:lvl1pPr>
      <a:lvl2pPr marL="200025" algn="r" rtl="1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defRPr sz="2800" kern="1200">
          <a:solidFill>
            <a:srgbClr val="404040"/>
          </a:solidFill>
          <a:latin typeface="+mn-lt"/>
          <a:ea typeface="+mn-ea"/>
          <a:cs typeface="+mn-cs"/>
        </a:defRPr>
      </a:lvl2pPr>
      <a:lvl3pPr marL="382588" algn="r" rtl="1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defRPr sz="2000" kern="1200">
          <a:solidFill>
            <a:srgbClr val="404040"/>
          </a:solidFill>
          <a:latin typeface="+mn-lt"/>
          <a:ea typeface="+mn-ea"/>
          <a:cs typeface="+mn-cs"/>
        </a:defRPr>
      </a:lvl3pPr>
      <a:lvl4pPr marL="566738" algn="r" rtl="1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defRPr sz="2000" kern="1200">
          <a:solidFill>
            <a:srgbClr val="404040"/>
          </a:solidFill>
          <a:latin typeface="+mn-lt"/>
          <a:ea typeface="+mn-ea"/>
          <a:cs typeface="+mn-cs"/>
        </a:defRPr>
      </a:lvl4pPr>
      <a:lvl5pPr marL="749300" algn="r" rtl="1" fontAlgn="base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defRPr sz="2000" kern="1200">
          <a:solidFill>
            <a:srgbClr val="404040"/>
          </a:solidFill>
          <a:latin typeface="+mn-lt"/>
          <a:ea typeface="+mn-ea"/>
          <a:cs typeface="+mn-cs"/>
        </a:defRPr>
      </a:lvl5pPr>
      <a:lvl6pPr marL="11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r" defTabSz="914400" rtl="1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1.jp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0437" y="392257"/>
            <a:ext cx="6900990" cy="108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72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72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610436" y="1405982"/>
            <a:ext cx="847526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i="1" dirty="0" smtClean="0">
                <a:solidFill>
                  <a:srgbClr val="FFAA2D"/>
                </a:solidFill>
              </a:rPr>
              <a:t>Government </a:t>
            </a:r>
            <a:r>
              <a:rPr lang="en-US" sz="4400" b="1" i="1" dirty="0">
                <a:solidFill>
                  <a:srgbClr val="FFAA2D"/>
                </a:solidFill>
              </a:rPr>
              <a:t>Secure </a:t>
            </a:r>
            <a:r>
              <a:rPr lang="en-US" sz="4400" b="1" i="1" dirty="0" smtClean="0">
                <a:solidFill>
                  <a:srgbClr val="FFAA2D"/>
                </a:solidFill>
              </a:rPr>
              <a:t>Network - GSN</a:t>
            </a:r>
            <a:endParaRPr lang="en-US" sz="4400" b="1" i="1" dirty="0">
              <a:solidFill>
                <a:srgbClr val="FFAA2D"/>
              </a:solidFill>
            </a:endParaRPr>
          </a:p>
          <a:p>
            <a:pPr algn="ctr"/>
            <a:endParaRPr lang="ar-SY" sz="4400" b="1" dirty="0" smtClean="0">
              <a:solidFill>
                <a:srgbClr val="FFAA2D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438" y="5699921"/>
            <a:ext cx="20970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ar-SY" sz="3200" b="1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</a:t>
            </a:r>
            <a:r>
              <a:rPr lang="ar-SA" sz="3200" b="1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.سلمان سليمان</a:t>
            </a:r>
            <a:r>
              <a:rPr lang="ar-SY" sz="1100" b="1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sz="11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638" y="2129257"/>
            <a:ext cx="7086600" cy="314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70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469961"/>
            <a:ext cx="11628071" cy="4032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أهداف الشبكة الحكومية الآمنة</a:t>
            </a:r>
            <a:endParaRPr lang="en-US" sz="3600" b="1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تأمين </a:t>
            </a: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اتصال آمن بين المؤسسات 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الحكوميّة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ربط المؤسسات </a:t>
            </a: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الحكوميّة بمركز 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المعطيات الوطني</a:t>
            </a:r>
            <a:endParaRPr lang="en-US" sz="25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تحقيق مستوى 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عالي من التخاطبيّة</a:t>
            </a:r>
            <a:endParaRPr lang="en-US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يُخفف من كلف وزمن إدارة الشبكات الخاصة بكل جهة من الجهات الحكوميّة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توفير خدمات المؤسسات الحكوميّة عبر "ناقل الخدمات الحكوميّة"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Government Services Bus (GSB)</a:t>
            </a:r>
          </a:p>
          <a:p>
            <a:pPr marL="45720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8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51465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469961"/>
            <a:ext cx="11628071" cy="619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البنية التحتية</a:t>
            </a:r>
            <a:endParaRPr lang="en-US" sz="3600" b="1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شبكة مبنية على شبكة تبادل المعطيات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PDN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، تقنية الشبكة الافتراضية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 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MPLS/L2-VPN</a:t>
            </a:r>
            <a:endParaRPr lang="ar-SY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نطاق مخصص لـ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GSN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هو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EGOV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دارات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GSHDSL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اتصال آمن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VPN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بناء على شهادة مصادقة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مركز معطيات مركزي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أجهزة حماية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برمجيات مراقبة أداء الشبكة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ar-SY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5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2" t="12418" r="15918" b="11573"/>
          <a:stretch/>
        </p:blipFill>
        <p:spPr>
          <a:xfrm>
            <a:off x="1966676" y="2985608"/>
            <a:ext cx="3207224" cy="33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4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469961"/>
            <a:ext cx="11628071" cy="2296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البنية التحتية – </a:t>
            </a:r>
            <a:r>
              <a:rPr lang="en-US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PDN2</a:t>
            </a:r>
            <a:endParaRPr lang="en-US" sz="3600" b="1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ar-SY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5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955" y="605308"/>
            <a:ext cx="12192001" cy="6272125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1255594" y="504967"/>
            <a:ext cx="696036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51630" y="504967"/>
            <a:ext cx="409433" cy="147395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361063" y="1978925"/>
            <a:ext cx="3562065" cy="682388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923128" y="2674961"/>
            <a:ext cx="627797" cy="54591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564573" y="3234519"/>
            <a:ext cx="4419755" cy="791571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0984328" y="4012442"/>
            <a:ext cx="588973" cy="655092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11573301" y="4667534"/>
            <a:ext cx="40944" cy="1392215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loud 30"/>
          <p:cNvSpPr/>
          <p:nvPr/>
        </p:nvSpPr>
        <p:spPr>
          <a:xfrm>
            <a:off x="0" y="339149"/>
            <a:ext cx="11851222" cy="6086202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 smtClean="0"/>
              <a:t>GSN - EGOV</a:t>
            </a:r>
            <a:endParaRPr lang="en-US" sz="6000" dirty="0"/>
          </a:p>
        </p:txBody>
      </p:sp>
      <p:sp>
        <p:nvSpPr>
          <p:cNvPr id="32" name="Can 31"/>
          <p:cNvSpPr/>
          <p:nvPr/>
        </p:nvSpPr>
        <p:spPr>
          <a:xfrm rot="6598662">
            <a:off x="6472868" y="-2259123"/>
            <a:ext cx="519477" cy="9881724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05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469961"/>
            <a:ext cx="11628071" cy="625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البنية التحتية – </a:t>
            </a:r>
            <a:r>
              <a:rPr lang="en-US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PDN</a:t>
            </a:r>
            <a:endParaRPr lang="ar-SY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0B37C0C9-C98A-4A93-A2F6-38D7A5C2189F}"/>
              </a:ext>
            </a:extLst>
          </p:cNvPr>
          <p:cNvGrpSpPr/>
          <p:nvPr/>
        </p:nvGrpSpPr>
        <p:grpSpPr>
          <a:xfrm>
            <a:off x="4836320" y="2660560"/>
            <a:ext cx="3376402" cy="2876665"/>
            <a:chOff x="5530998" y="2503427"/>
            <a:chExt cx="2512712" cy="2175300"/>
          </a:xfrm>
        </p:grpSpPr>
        <p:pic>
          <p:nvPicPr>
            <p:cNvPr id="16" name="Picture 8" descr="Image result for secure network">
              <a:extLst>
                <a:ext uri="{FF2B5EF4-FFF2-40B4-BE49-F238E27FC236}">
                  <a16:creationId xmlns:a16="http://schemas.microsoft.com/office/drawing/2014/main" xmlns="" id="{E64DF1A1-6F35-4B87-A4A6-BBFD064B34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0998" y="2503427"/>
              <a:ext cx="2512712" cy="20101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848695CD-982F-4436-B258-4750E95A6027}"/>
                </a:ext>
              </a:extLst>
            </p:cNvPr>
            <p:cNvSpPr txBox="1"/>
            <p:nvPr/>
          </p:nvSpPr>
          <p:spPr>
            <a:xfrm>
              <a:off x="5654216" y="4329621"/>
              <a:ext cx="2084794" cy="3491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 rtl="1"/>
              <a:r>
                <a:rPr lang="en-US" sz="2400" b="1" dirty="0" smtClean="0"/>
                <a:t>GSN</a:t>
              </a:r>
              <a:endParaRPr lang="en-US" sz="2400" b="1" dirty="0"/>
            </a:p>
          </p:txBody>
        </p:sp>
      </p:grpSp>
      <p:pic>
        <p:nvPicPr>
          <p:cNvPr id="18" name="Picture 2" descr="Image result for server cabinet">
            <a:extLst>
              <a:ext uri="{FF2B5EF4-FFF2-40B4-BE49-F238E27FC236}">
                <a16:creationId xmlns:a16="http://schemas.microsoft.com/office/drawing/2014/main" xmlns="" id="{379F2738-9161-4974-84DC-D81B85BAE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6448" y="1464385"/>
            <a:ext cx="2787826" cy="461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848695CD-982F-4436-B258-4750E95A6027}"/>
              </a:ext>
            </a:extLst>
          </p:cNvPr>
          <p:cNvSpPr txBox="1"/>
          <p:nvPr/>
        </p:nvSpPr>
        <p:spPr>
          <a:xfrm>
            <a:off x="1318821" y="5735306"/>
            <a:ext cx="280139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rtl="1"/>
            <a:r>
              <a:rPr lang="ar-SY" sz="2400" b="1" dirty="0" smtClean="0"/>
              <a:t>مركز معطيات </a:t>
            </a:r>
            <a:r>
              <a:rPr lang="en-US" sz="2400" b="1" dirty="0" smtClean="0"/>
              <a:t>GSN</a:t>
            </a:r>
            <a:endParaRPr lang="en-US" sz="2400" b="1" dirty="0"/>
          </a:p>
        </p:txBody>
      </p:sp>
      <p:sp>
        <p:nvSpPr>
          <p:cNvPr id="26" name="Freeform: Shape 37">
            <a:extLst>
              <a:ext uri="{FF2B5EF4-FFF2-40B4-BE49-F238E27FC236}">
                <a16:creationId xmlns:a16="http://schemas.microsoft.com/office/drawing/2014/main" xmlns="" id="{D4905E8A-0578-484D-9D0E-6E56E50A60BE}"/>
              </a:ext>
            </a:extLst>
          </p:cNvPr>
          <p:cNvSpPr/>
          <p:nvPr/>
        </p:nvSpPr>
        <p:spPr>
          <a:xfrm>
            <a:off x="2674961" y="3367744"/>
            <a:ext cx="7223127" cy="804839"/>
          </a:xfrm>
          <a:custGeom>
            <a:avLst/>
            <a:gdLst>
              <a:gd name="connsiteX0" fmla="*/ 6361043 w 6361043"/>
              <a:gd name="connsiteY0" fmla="*/ 731533 h 731533"/>
              <a:gd name="connsiteX1" fmla="*/ 1895061 w 6361043"/>
              <a:gd name="connsiteY1" fmla="*/ 2663 h 731533"/>
              <a:gd name="connsiteX2" fmla="*/ 0 w 6361043"/>
              <a:gd name="connsiteY2" fmla="*/ 532750 h 731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61043" h="731533">
                <a:moveTo>
                  <a:pt x="6361043" y="731533"/>
                </a:moveTo>
                <a:cubicBezTo>
                  <a:pt x="4658139" y="383663"/>
                  <a:pt x="2955235" y="35793"/>
                  <a:pt x="1895061" y="2663"/>
                </a:cubicBezTo>
                <a:cubicBezTo>
                  <a:pt x="834887" y="-30468"/>
                  <a:pt x="417443" y="251141"/>
                  <a:pt x="0" y="532750"/>
                </a:cubicBezTo>
              </a:path>
            </a:pathLst>
          </a:custGeom>
          <a:noFill/>
          <a:ln w="57150"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36">
            <a:extLst>
              <a:ext uri="{FF2B5EF4-FFF2-40B4-BE49-F238E27FC236}">
                <a16:creationId xmlns:a16="http://schemas.microsoft.com/office/drawing/2014/main" xmlns="" id="{F83C343B-2390-4CA3-85A7-5AFF4482D6D9}"/>
              </a:ext>
            </a:extLst>
          </p:cNvPr>
          <p:cNvSpPr/>
          <p:nvPr/>
        </p:nvSpPr>
        <p:spPr>
          <a:xfrm>
            <a:off x="2674962" y="4282846"/>
            <a:ext cx="7223126" cy="754257"/>
          </a:xfrm>
          <a:custGeom>
            <a:avLst/>
            <a:gdLst>
              <a:gd name="connsiteX0" fmla="*/ 3962400 w 3962400"/>
              <a:gd name="connsiteY0" fmla="*/ 0 h 1494623"/>
              <a:gd name="connsiteX1" fmla="*/ 2001079 w 3962400"/>
              <a:gd name="connsiteY1" fmla="*/ 1470991 h 1494623"/>
              <a:gd name="connsiteX2" fmla="*/ 0 w 3962400"/>
              <a:gd name="connsiteY2" fmla="*/ 768626 h 149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1494623">
                <a:moveTo>
                  <a:pt x="3962400" y="0"/>
                </a:moveTo>
                <a:cubicBezTo>
                  <a:pt x="3311939" y="671443"/>
                  <a:pt x="2661479" y="1342887"/>
                  <a:pt x="2001079" y="1470991"/>
                </a:cubicBezTo>
                <a:cubicBezTo>
                  <a:pt x="1340679" y="1599095"/>
                  <a:pt x="670339" y="1183860"/>
                  <a:pt x="0" y="768626"/>
                </a:cubicBezTo>
              </a:path>
            </a:pathLst>
          </a:custGeom>
          <a:noFill/>
          <a:ln w="57150"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6">
            <a:extLst>
              <a:ext uri="{FF2B5EF4-FFF2-40B4-BE49-F238E27FC236}">
                <a16:creationId xmlns:a16="http://schemas.microsoft.com/office/drawing/2014/main" xmlns="" id="{F83C343B-2390-4CA3-85A7-5AFF4482D6D9}"/>
              </a:ext>
            </a:extLst>
          </p:cNvPr>
          <p:cNvSpPr/>
          <p:nvPr/>
        </p:nvSpPr>
        <p:spPr>
          <a:xfrm rot="1193087">
            <a:off x="5868283" y="3183404"/>
            <a:ext cx="4104577" cy="469678"/>
          </a:xfrm>
          <a:custGeom>
            <a:avLst/>
            <a:gdLst>
              <a:gd name="connsiteX0" fmla="*/ 3962400 w 3962400"/>
              <a:gd name="connsiteY0" fmla="*/ 0 h 1494623"/>
              <a:gd name="connsiteX1" fmla="*/ 2001079 w 3962400"/>
              <a:gd name="connsiteY1" fmla="*/ 1470991 h 1494623"/>
              <a:gd name="connsiteX2" fmla="*/ 0 w 3962400"/>
              <a:gd name="connsiteY2" fmla="*/ 768626 h 1494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1494623">
                <a:moveTo>
                  <a:pt x="3962400" y="0"/>
                </a:moveTo>
                <a:cubicBezTo>
                  <a:pt x="3311939" y="671443"/>
                  <a:pt x="2661479" y="1342887"/>
                  <a:pt x="2001079" y="1470991"/>
                </a:cubicBezTo>
                <a:cubicBezTo>
                  <a:pt x="1340679" y="1599095"/>
                  <a:pt x="670339" y="1183860"/>
                  <a:pt x="0" y="768626"/>
                </a:cubicBezTo>
              </a:path>
            </a:pathLst>
          </a:custGeom>
          <a:noFill/>
          <a:ln w="57150"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703" y="3445594"/>
            <a:ext cx="1378423" cy="137842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6448" y="1430935"/>
            <a:ext cx="1378423" cy="1378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 animBg="1"/>
      <p:bldP spid="28" grpId="0" animBg="1"/>
      <p:bldP spid="3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469961"/>
            <a:ext cx="11628071" cy="6255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البنية </a:t>
            </a: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التحتية</a:t>
            </a:r>
            <a:endParaRPr lang="en-US" sz="3600" b="1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 flipV="1">
            <a:off x="174548" y="-438842"/>
            <a:ext cx="897400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58009"/>
            <a:ext cx="12195313" cy="450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796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396221"/>
            <a:ext cx="11628071" cy="619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متطلبات الانضمام لـ </a:t>
            </a:r>
            <a:r>
              <a:rPr lang="en-US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GSN</a:t>
            </a:r>
            <a:endParaRPr lang="en-US" sz="3600" b="1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داراة </a:t>
            </a:r>
            <a:r>
              <a:rPr lang="en-US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GSHDSL</a:t>
            </a:r>
          </a:p>
          <a:p>
            <a:pPr marL="45720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تعريف نطاق </a:t>
            </a: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مخصص لـ </a:t>
            </a:r>
            <a:r>
              <a:rPr lang="en-US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GSN</a:t>
            </a: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هو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EGOV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</a:p>
          <a:p>
            <a:pPr marL="45720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حاسب أو أكثر مع إعدادت خاصة</a:t>
            </a:r>
          </a:p>
          <a:p>
            <a:pPr marL="45720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استمارة للحصول على شهادة مصادقة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اتصال آمن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VPN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بناء على شهادة مصادقة واسم مستخدم/كلمة سر  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صلاحية الوصول إلى الخدمة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اتباع سياسة الاستخدام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تدريب على استخدام الخدمات</a:t>
            </a:r>
            <a:endParaRPr lang="en-US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ar-SY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5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1388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469961"/>
            <a:ext cx="11628071" cy="5023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سياسة استخدام لـ </a:t>
            </a:r>
            <a:r>
              <a:rPr lang="en-US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GSN</a:t>
            </a:r>
            <a:endParaRPr lang="en-US" sz="3600" b="1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342900" lvl="0" indent="-342900" algn="r" rtl="1">
              <a:buFont typeface="Arial" panose="020B0604020202020204" pitchFamily="34" charset="0"/>
              <a:buChar char="•"/>
            </a:pP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يمنع منعاً باتاً استخدام الشّبكة لأي من التطبيقات خارج إطار الخدمات الحكوميّة المعرَّفة مسبقاً</a:t>
            </a:r>
          </a:p>
          <a:p>
            <a:pPr marL="342900" indent="-342900" algn="r" rtl="1">
              <a:buFont typeface="Arial" panose="020B0604020202020204" pitchFamily="34" charset="0"/>
              <a:buChar char="•"/>
            </a:pP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لن تقوم إدارة الشّبكة بإعلام أي جهة عندما ترتكب مخالفة تعرقل أو تحاول أن تعرقل عمل الشّبكة، بل سيتم اتخاذ الإجراءات الإداريّة والتقنيّة 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فوراً</a:t>
            </a:r>
          </a:p>
          <a:p>
            <a:pPr marL="342900" lvl="3" indent="-342900" algn="r" rtl="1">
              <a:buFont typeface="Arial" panose="020B0604020202020204" pitchFamily="34" charset="0"/>
              <a:buChar char="•"/>
            </a:pP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تعريف حسابات (اسم مستخدم وكلمة مرور) بصلاحيات مستخدم 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عادي على حاسب الجهة العامة</a:t>
            </a:r>
            <a:endParaRPr lang="ar-SY" sz="25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342900" lvl="3" indent="-342900" algn="r" rtl="1">
              <a:buFont typeface="Arial" panose="020B0604020202020204" pitchFamily="34" charset="0"/>
              <a:buChar char="•"/>
            </a:pP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إبطال خاصية الحصول على العناوين الشّبكية بشكل أوتوماتيكي </a:t>
            </a:r>
            <a:r>
              <a:rPr lang="en-US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DHCP</a:t>
            </a: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واستخدام عناوين شبكية محلية من النوع </a:t>
            </a:r>
            <a:r>
              <a:rPr lang="en-US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Static IPs </a:t>
            </a: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وتفعيل خاصية </a:t>
            </a:r>
            <a:r>
              <a:rPr lang="en-US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Port Security  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في </a:t>
            </a:r>
            <a:r>
              <a:rPr lang="ar-SY" sz="25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حال كانت التجهيزات الشّبكية تدعم هذه </a:t>
            </a: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الخاصية</a:t>
            </a:r>
          </a:p>
          <a:p>
            <a:pPr marL="342900" lvl="3" indent="-342900" algn="r" rtl="1">
              <a:buFont typeface="Arial" panose="020B0604020202020204" pitchFamily="34" charset="0"/>
              <a:buChar char="•"/>
            </a:pPr>
            <a:endParaRPr lang="ar-SY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342900" lvl="3" indent="-342900" algn="r" rtl="1">
              <a:buFont typeface="Arial" panose="020B0604020202020204" pitchFamily="34" charset="0"/>
              <a:buChar char="•"/>
            </a:pPr>
            <a:endParaRPr lang="ar-SY" sz="25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342900" lvl="3" indent="-342900" algn="r" rtl="1">
              <a:buFont typeface="Arial" panose="020B0604020202020204" pitchFamily="34" charset="0"/>
              <a:buChar char="•"/>
            </a:pPr>
            <a:r>
              <a:rPr lang="ar-SY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هناك ملحق لسياسة الاستخدام، وخطوات تأسيس اتصال آمن، ومراحل الترابط مع الـ </a:t>
            </a:r>
            <a:r>
              <a:rPr lang="en-US" sz="25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GSN</a:t>
            </a:r>
            <a:endParaRPr lang="en-US" sz="25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342900" lvl="3" indent="-342900" algn="r" rtl="1">
              <a:buFont typeface="Arial" panose="020B0604020202020204" pitchFamily="34" charset="0"/>
              <a:buChar char="•"/>
            </a:pPr>
            <a:endParaRPr lang="ar-SY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5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1257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469961"/>
            <a:ext cx="11628071" cy="4422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إجراءات الحماية</a:t>
            </a:r>
            <a:endParaRPr lang="en-US" sz="3600" b="1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التصميم الحالي يحقق</a:t>
            </a:r>
            <a:r>
              <a:rPr lang="en-US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CIA  </a:t>
            </a: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السرية </a:t>
            </a:r>
            <a:r>
              <a:rPr lang="en-US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Confidentiality</a:t>
            </a: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السلامة </a:t>
            </a:r>
            <a:r>
              <a:rPr lang="en-US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Integrity </a:t>
            </a: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التوافرية </a:t>
            </a:r>
            <a:r>
              <a:rPr lang="en-US" sz="3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Availability </a:t>
            </a:r>
          </a:p>
          <a:p>
            <a:pPr marL="342900" lvl="3" indent="-342900" algn="r" rtl="1">
              <a:buFont typeface="Arial" panose="020B0604020202020204" pitchFamily="34" charset="0"/>
              <a:buChar char="•"/>
            </a:pPr>
            <a:endParaRPr lang="ar-SY" sz="2500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endParaRPr lang="en-US" sz="25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201" y="1991482"/>
            <a:ext cx="2917758" cy="316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59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381473"/>
            <a:ext cx="11628071" cy="5040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مستويات الحماية</a:t>
            </a:r>
            <a:endParaRPr lang="en-US" sz="3600" b="1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200" b="1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الشبكة </a:t>
            </a:r>
            <a:r>
              <a:rPr lang="ar-SY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الحكومية الآمنة شبكة معزولة افتراضياً  </a:t>
            </a:r>
            <a:r>
              <a:rPr lang="en-US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VPN </a:t>
            </a:r>
            <a:r>
              <a:rPr lang="ar-SY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+</a:t>
            </a:r>
            <a:r>
              <a:rPr lang="en-US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 MPLS 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قناة اتصال مشفرة  للولوج إلى الخدمات (</a:t>
            </a:r>
            <a:r>
              <a:rPr lang="en-US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SSL/TLS +Client </a:t>
            </a:r>
            <a:r>
              <a:rPr lang="en-US" sz="2200" b="1" dirty="0" err="1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Authen</a:t>
            </a:r>
            <a:r>
              <a:rPr lang="ar-SY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sz="2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800100" lvl="1" indent="-3429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VPN SERVER (Client Based) </a:t>
            </a:r>
          </a:p>
          <a:p>
            <a:pPr marL="800100" lvl="1" indent="-3429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Remote Access (SSL/TLS +User </a:t>
            </a:r>
            <a:r>
              <a:rPr lang="en-US" sz="2200" dirty="0" err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Auth</a:t>
            </a: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</a:p>
          <a:p>
            <a:pPr marL="800100" lvl="1" indent="-3429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Authentication of TLS Packet: Static key 2048 bit</a:t>
            </a:r>
          </a:p>
          <a:p>
            <a:pPr marL="800100" lvl="1" indent="-3429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Server Certificate: Self  Signed</a:t>
            </a:r>
          </a:p>
          <a:p>
            <a:pPr marL="800100" lvl="1" indent="-3429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Encryption Algorithm: AES</a:t>
            </a:r>
          </a:p>
          <a:p>
            <a:pPr marL="800100" lvl="1" indent="-3429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Authentication Algorithm RSA</a:t>
            </a:r>
          </a:p>
          <a:p>
            <a:pPr marL="457200" lvl="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عزل الخدمات المنضوية ضمن الشبكة الحكومية الآمنة </a:t>
            </a:r>
            <a:r>
              <a:rPr lang="ar-SY" sz="2200" b="1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 </a:t>
            </a:r>
            <a:r>
              <a:rPr lang="ar-SY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بعضها ضمن شبكات افتراضية (</a:t>
            </a:r>
            <a:r>
              <a:rPr lang="en-US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VLANS</a:t>
            </a:r>
            <a:r>
              <a:rPr lang="ar-SY" sz="2200" b="1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sz="2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2531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9751" y="1381473"/>
            <a:ext cx="11628071" cy="5351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</a:pPr>
            <a:r>
              <a:rPr lang="ar-SY" sz="3600" b="1" dirty="0" smtClean="0">
                <a:latin typeface="Traditional Arabic" panose="02020603050405020304" pitchFamily="18" charset="-78"/>
                <a:ea typeface="ＭＳ Ｐゴシック" pitchFamily="34" charset="-128"/>
                <a:cs typeface="Traditional Arabic" panose="02020603050405020304" pitchFamily="18" charset="-78"/>
              </a:rPr>
              <a:t>مستويات الحماية - تابع</a:t>
            </a:r>
            <a:endParaRPr lang="en-US" sz="3600" b="1" dirty="0" smtClean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45720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تدابير وسياسات وتجهيزات وبرمجيات للحماية </a:t>
            </a:r>
            <a:r>
              <a:rPr lang="ar-SY" sz="2200" b="1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للشبكة</a:t>
            </a:r>
            <a:endParaRPr lang="en-US" sz="2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نظام مراقبة للشبكة (</a:t>
            </a: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monitoring system</a:t>
            </a:r>
            <a:r>
              <a:rPr lang="ar-SY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)</a:t>
            </a:r>
            <a:endParaRPr lang="en-US" sz="2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نظام كشف التطفل والتهديدات الأمنية </a:t>
            </a:r>
            <a:r>
              <a:rPr lang="en-US" sz="2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IDS</a:t>
            </a:r>
            <a:endParaRPr lang="en-US" sz="2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جدارناري   </a:t>
            </a: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Firewall +Access Control</a:t>
            </a: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en-US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AAA SERVER</a:t>
            </a:r>
          </a:p>
          <a:p>
            <a:pPr marL="45720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r>
              <a:rPr lang="ar-SY" sz="2200" b="1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تدابير وسياسات وبرمجيات للحماية للطرفيات (المستخدمين النهائيين)</a:t>
            </a:r>
            <a:endParaRPr lang="en-US" sz="2200" b="1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السياسة الوطنية لأمن المعلومات</a:t>
            </a:r>
            <a:endParaRPr lang="en-US" sz="2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سياسة الاستخدام</a:t>
            </a:r>
            <a:endParaRPr lang="en-US" sz="22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  <a:p>
            <a:pPr marL="914400" lvl="1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+mj-lt"/>
              <a:buAutoNum type="arabicPeriod"/>
            </a:pPr>
            <a:r>
              <a:rPr lang="ar-SY" sz="2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بر</a:t>
            </a:r>
            <a:r>
              <a:rPr lang="ar-SA" sz="2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امج</a:t>
            </a:r>
            <a:r>
              <a:rPr lang="ar-SY" sz="2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Y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مضادة </a:t>
            </a:r>
            <a:r>
              <a:rPr lang="ar-SY" sz="2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للبر</a:t>
            </a:r>
            <a:r>
              <a:rPr lang="ar-SA" sz="2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مجيات</a:t>
            </a:r>
            <a:r>
              <a:rPr lang="ar-SY" sz="2200" dirty="0" smtClean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r>
              <a:rPr lang="ar-SY" sz="2200" dirty="0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الخبيثة+ الجدار الناري الخاص بنظام التشغيل</a:t>
            </a:r>
          </a:p>
          <a:p>
            <a:pPr marL="457200" indent="-457200" algn="r" defTabSz="814388" rtl="1">
              <a:lnSpc>
                <a:spcPct val="95000"/>
              </a:lnSpc>
              <a:spcBef>
                <a:spcPct val="50000"/>
              </a:spcBef>
              <a:buClr>
                <a:srgbClr val="708CA1"/>
              </a:buClr>
              <a:buFont typeface="Arial" panose="020B0604020202020204" pitchFamily="34" charset="0"/>
              <a:buChar char="•"/>
            </a:pPr>
            <a:endParaRPr lang="en-US" sz="1400" dirty="0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87436DC-DDA2-496E-9760-B8E7870C2868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674961" y="392257"/>
            <a:ext cx="5836465" cy="1031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</a:pPr>
            <a:r>
              <a:rPr lang="ar-SY" sz="6600" b="1" kern="0" spc="-50" dirty="0" smtClean="0"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3">
                        <a:lumMod val="75000"/>
                      </a:schemeClr>
                    </a:gs>
                    <a:gs pos="100000">
                      <a:srgbClr val="0070C0"/>
                    </a:gs>
                  </a:gsLst>
                  <a:lin ang="0" scaled="1"/>
                  <a:tileRect/>
                </a:gradFill>
                <a:latin typeface="Traditional Arabic" panose="02020603050405020304" pitchFamily="18" charset="-78"/>
                <a:ea typeface="+mj-ea"/>
                <a:cs typeface="Traditional Arabic" panose="02020603050405020304" pitchFamily="18" charset="-78"/>
              </a:rPr>
              <a:t>الشبكة الحكومية الآمنة</a:t>
            </a:r>
            <a:endParaRPr lang="en-US" sz="6600" b="1" kern="0" spc="-50" dirty="0">
              <a:gradFill flip="none" rotWithShape="1">
                <a:gsLst>
                  <a:gs pos="0">
                    <a:schemeClr val="accent6">
                      <a:lumMod val="75000"/>
                    </a:schemeClr>
                  </a:gs>
                  <a:gs pos="50000">
                    <a:schemeClr val="accent3">
                      <a:lumMod val="75000"/>
                    </a:schemeClr>
                  </a:gs>
                  <a:gs pos="100000">
                    <a:srgbClr val="0070C0"/>
                  </a:gs>
                </a:gsLst>
                <a:lin ang="0" scaled="1"/>
                <a:tileRect/>
              </a:gradFill>
              <a:latin typeface="Traditional Arabic" panose="02020603050405020304" pitchFamily="18" charset="-78"/>
              <a:ea typeface="+mj-ea"/>
              <a:cs typeface="Traditional Arabic" panose="02020603050405020304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7838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yrian AIGL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yrian AIGLE" id="{70FFF814-C016-4301-9635-A7682637DF9F}" vid="{75CC92BE-67EE-41F4-8E95-8D51BBD8E9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5497</TotalTime>
  <Words>475</Words>
  <Application>Microsoft Office PowerPoint</Application>
  <PresentationFormat>Widescreen</PresentationFormat>
  <Paragraphs>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ＭＳ Ｐゴシック</vt:lpstr>
      <vt:lpstr>Arial</vt:lpstr>
      <vt:lpstr>Calibri</vt:lpstr>
      <vt:lpstr>Calibri Light</vt:lpstr>
      <vt:lpstr>Times New Roman</vt:lpstr>
      <vt:lpstr>Traditional Arabic</vt:lpstr>
      <vt:lpstr>Syrian AIGLE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ASUS</cp:lastModifiedBy>
  <cp:revision>349</cp:revision>
  <dcterms:created xsi:type="dcterms:W3CDTF">2015-07-24T06:02:59Z</dcterms:created>
  <dcterms:modified xsi:type="dcterms:W3CDTF">2025-11-17T09:02:47Z</dcterms:modified>
</cp:coreProperties>
</file>